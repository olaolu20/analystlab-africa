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11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solidFill>
            <a:srgbClr val="C1121F">
              <a:alpha val="15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822960"/>
            <a:ext cx="1097280" cy="1097280"/>
          </a:xfrm>
          <a:prstGeom prst="ellipse">
            <a:avLst/>
          </a:prstGeom>
          <a:solidFill>
            <a:srgbClr val="C1121F">
              <a:alpha val="3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560320"/>
            <a:ext cx="1645920" cy="1645920"/>
          </a:xfrm>
          <a:prstGeom prst="ellipse">
            <a:avLst/>
          </a:prstGeom>
          <a:solidFill>
            <a:srgbClr val="162032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3474720"/>
            <a:ext cx="822960" cy="822960"/>
          </a:xfrm>
          <a:prstGeom prst="ellipse">
            <a:avLst/>
          </a:prstGeom>
          <a:solidFill>
            <a:srgbClr val="C1121F">
              <a:alpha val="4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🦠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Impact Dashboard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3657600" cy="457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Mar 2023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169164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429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104M+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0280" y="3383280"/>
            <a:ext cx="169164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40280" y="3429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40280" y="37490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3383280"/>
            <a:ext cx="169164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0" y="3429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0" y="37490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Internship  |  Data Visualization &amp; Dashboarding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236" y="2093976"/>
            <a:ext cx="411480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0236" y="2093976"/>
            <a:ext cx="4114800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396" y="22311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50316" y="22311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116" y="26883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Hopkins University CSSE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116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(Public)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116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daily until Mar 2023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78678" y="2083526"/>
            <a:ext cx="411480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8678" y="2083526"/>
            <a:ext cx="4114800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5838" y="222068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18758" y="22206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1558" y="267788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Countries &amp; Regions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1558" y="302535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US States breakdown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61558" y="337283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22 2020 – Mar 9 2023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 &amp;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1B2A4A"/>
          </a:solidFill>
          <a:ln w="19050">
            <a:solidFill>
              <a:srgbClr val="C1121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32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need to understand the scale, spread and trajectory of COVID-19 </a:t>
            </a:r>
            <a:r>
              <a:rPr lang="en-US" sz="1050" dirty="0" smtClean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globally, identifying </a:t>
            </a: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were most affected, how the pandemic evolved over 3 years, and what the survival outcomes were.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11480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502920" cy="13258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28600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had the highest confirmed cases and deaths?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411480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874520"/>
            <a:ext cx="502920" cy="13258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228600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103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pandemic grow and peak over 2020–2023?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11480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83280"/>
            <a:ext cx="502920" cy="1325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79476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global death rate and recovery rate?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383280"/>
            <a:ext cx="411480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383280"/>
            <a:ext cx="502920" cy="13258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79476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36118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confirmed cases compare to deaths by country?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2024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92024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worldwide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68680"/>
            <a:ext cx="192024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868680"/>
            <a:ext cx="1920240" cy="640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fatalities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868680"/>
            <a:ext cx="192024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68680"/>
            <a:ext cx="192024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💚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31M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1772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recoveries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868680"/>
            <a:ext cx="192024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868680"/>
            <a:ext cx="19202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665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1.04%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6656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/ Confirmed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leads confirmed cases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520440"/>
            <a:ext cx="4114800" cy="146304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3520440"/>
            <a:ext cx="4114800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3429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813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leads total deaths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3904488"/>
            <a:ext cx="4114800" cy="146304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3904488"/>
            <a:ext cx="2427732" cy="14630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38130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</a:t>
            </a:r>
            <a:r>
              <a:rPr lang="en-US" sz="1000" dirty="0" smtClean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most confirmed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288536"/>
            <a:ext cx="4114800" cy="146304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4288536"/>
            <a:ext cx="1769364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41970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5811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 of cases recovered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80560" y="4672584"/>
            <a:ext cx="4114800" cy="146304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4672584"/>
            <a:ext cx="3950208" cy="14630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45811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3977640"/>
          </a:xfrm>
          <a:prstGeom prst="rect">
            <a:avLst/>
          </a:prstGeom>
          <a:solidFill>
            <a:srgbClr val="1B2A4A"/>
          </a:solidFill>
          <a:ln w="1905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Global Impact Dashboard   |   Jan 2020 – Mar 2023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444752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1444752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92240" y="1444752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" y="2221992"/>
            <a:ext cx="2499971" cy="2459736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168" y="2221992"/>
            <a:ext cx="3260751" cy="2459735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023" y="2221992"/>
            <a:ext cx="2412777" cy="2459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32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🇺🇸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Leads All Metrics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31673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104M confirmed cases and 1.12M deaths, the US accounts for the highest national burden globally. India follows at 44.7M cases.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1480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114800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32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914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2021–2022 Growth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131673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cases surged from 1M in early 2020 to over 100M by 2022. The Delta and Omicron variants drove the steepest growth curves.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11480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40280"/>
            <a:ext cx="411480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50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 Recovery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273405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documented cases, 96.5% recovered. Only 3.5% resulted in death — demonstrating effective healthcare response over time.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11480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40280"/>
            <a:ext cx="41148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350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1.04% Global Death Rate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273405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case fatality rate settled at 1.04%. Brazil (1.9%) and Mexico (4.3%) showed significantly higher death rates than the global average.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1480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57600"/>
            <a:ext cx="4114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67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Heavily Impacted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15137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Germany, Italy and the UK all appear in the top 10 for confirmed cases. Europe's dense population contributed to rapid spread.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1480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57600"/>
            <a:ext cx="411480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67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Slowdown Post-2022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00600" y="415137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new cases peaked in early 2022 then declined sharply as vaccination rates increased and immunity built up globally.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5176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51760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41832"/>
            <a:ext cx="438912" cy="438912"/>
          </a:xfrm>
          <a:prstGeom prst="rect">
            <a:avLst/>
          </a:prstGeom>
          <a:solidFill>
            <a:srgbClr val="C1121F">
              <a:alpha val="2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41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941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High-Burden Countries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resources toward US, India and Brazil which consistently showed the highest case and death counts throughout the pandemic.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65176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941832"/>
            <a:ext cx="438912" cy="438912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41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76472" y="941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Early Detection Systems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48132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2021–2022 surge shows the need for real-time surveillance dashboards that can identify exponential growth before it overwhelms health systems.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822960"/>
            <a:ext cx="265176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822960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941832"/>
            <a:ext cx="438912" cy="438912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941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56832" y="941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High Death-Rate Nations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148132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(4.3%) and Brazil (1.9%) had death rates far above the global average. Targeted healthcare capacity investment is needed in these regions.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65176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26080"/>
            <a:ext cx="265176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044952"/>
            <a:ext cx="438912" cy="438912"/>
          </a:xfrm>
          <a:prstGeom prst="rect">
            <a:avLst/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Recovery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58444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96.5% recovery rate confirms most patients survive. Public health messaging should balance risk communication with recovery outcomes.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2926080"/>
            <a:ext cx="265176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926080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3044952"/>
            <a:ext cx="438912" cy="438912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76472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Collection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358444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Hopkins stopped tracking recoveries for many countries mid-pandemic. Standardised global reporting frameworks would improve future analysis.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2926080"/>
            <a:ext cx="265176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926080"/>
            <a:ext cx="265176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044952"/>
            <a:ext cx="438912" cy="438912"/>
          </a:xfrm>
          <a:prstGeom prst="rect">
            <a:avLst/>
          </a:prstGeom>
          <a:solidFill>
            <a:srgbClr val="8892B0">
              <a:alpha val="20000"/>
            </a:srgbClr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9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56832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Dashboards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58444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wave patterns to forecast future outbreaks. A 30-day rolling average dashboard would give decision-makers earlier warning signals.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How I Overcame Them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Challenges Faced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CSV format with 1,143 date columns needing unpivot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loaded file without headers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3042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304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 disabled due to system security settings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77977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7797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3 tables required matching on 2 keys (Country + Date)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2552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2552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file had 15 fewer countries than confirmed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73075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7307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white borders could not be fully removed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I Solved Them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13533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3533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4 fixed columns then used Unpivot Other Columns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182880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Home tab &gt; Use First Row as Headers before unpivoting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23042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304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map </a:t>
            </a:r>
            <a:r>
              <a:rPr lang="en-US" sz="1000" dirty="0" smtClean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I </a:t>
            </a: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bar charts for country comparison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277977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7797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both Country/Region and Date fields during merge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2552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32552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Left Outer Join to preserve all confirmed case rows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73075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7307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minor formatting limit and focused on data quality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 &amp; Key Learnings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2024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202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22960"/>
            <a:ext cx="19202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6888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merging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19202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22960"/>
            <a:ext cx="192024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177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822960"/>
            <a:ext cx="19202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822960"/>
            <a:ext cx="1920240" cy="640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🗃️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6656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CSV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6656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source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Key Learnings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2816352"/>
            <a:ext cx="859536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Raw data is never dashboard-ready — cleaning and reshaping is 50% of the work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236976"/>
            <a:ext cx="85953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Unpivoting wide data into tall format is essential for time-series analysis in Power BI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859536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Merging tables on multiple keys prevents incorrect row matches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078224"/>
            <a:ext cx="85953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DAX measures are more flexible than raw column aggregations for KPIs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498848"/>
            <a:ext cx="859536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171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Data storytelling means connecting visuals to </a:t>
            </a:r>
            <a:r>
              <a:rPr lang="en-US" sz="1050" dirty="0" smtClean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and not </a:t>
            </a: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showing numbers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2011680" cy="2011680"/>
          </a:xfrm>
          <a:prstGeom prst="ellipse">
            <a:avLst/>
          </a:prstGeom>
          <a:solidFill>
            <a:srgbClr val="C1121F">
              <a:alpha val="15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822960"/>
            <a:ext cx="914400" cy="914400"/>
          </a:xfrm>
          <a:prstGeom prst="ellipse">
            <a:avLst/>
          </a:prstGeom>
          <a:solidFill>
            <a:srgbClr val="C1121F">
              <a:alpha val="30000"/>
            </a:srgbClr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🦠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12648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12648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Analyzed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2648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548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65760" y="1298448"/>
            <a:ext cx="2743200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8132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transforms 3 years of global COVID-19 data into clear, actionable </a:t>
            </a:r>
            <a:r>
              <a:rPr lang="en-US" sz="1150" dirty="0" smtClean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revealing </a:t>
            </a: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bore the highest burden, how the pandemic evolved, and what the human cost ultimately was.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26334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633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with 6 interactive visuals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slicers, bar charts, line chart &amp; donut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40156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401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cleaned, merged and modelled from 3 CSV files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78561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37856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delivered for 289 countries across 1,143 days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918</Words>
  <Application>Microsoft Office PowerPoint</Application>
  <PresentationFormat>On-screen Show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Impact Dashboard</dc:title>
  <dc:subject>PptxGenJS Presentation</dc:subject>
  <dc:creator>PptxGenJS</dc:creator>
  <cp:lastModifiedBy>AJAKAIYE KEHINDE S</cp:lastModifiedBy>
  <cp:revision>5</cp:revision>
  <dcterms:created xsi:type="dcterms:W3CDTF">2026-06-05T05:46:57Z</dcterms:created>
  <dcterms:modified xsi:type="dcterms:W3CDTF">2026-06-09T15:01:49Z</dcterms:modified>
</cp:coreProperties>
</file>